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3" r:id="rId2"/>
    <p:sldId id="291" r:id="rId3"/>
    <p:sldId id="290" r:id="rId4"/>
    <p:sldId id="286" r:id="rId5"/>
    <p:sldId id="287" r:id="rId6"/>
    <p:sldId id="288" r:id="rId7"/>
    <p:sldId id="289" r:id="rId8"/>
    <p:sldId id="269" r:id="rId9"/>
    <p:sldId id="271" r:id="rId10"/>
    <p:sldId id="261" r:id="rId11"/>
    <p:sldId id="262" r:id="rId12"/>
    <p:sldId id="272" r:id="rId13"/>
    <p:sldId id="264" r:id="rId14"/>
    <p:sldId id="274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E84D-C4FE-C7D9-2D9F-339748E51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8AA35-B209-3871-33F2-CA4F41EE3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B343-9B97-847F-B00F-B760D897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4223B-4189-30EB-4709-9163E3A0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55161-1985-B90D-26DD-5DEC2CAF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6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E401-737E-A710-A919-6FA549BB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F7E-55A1-2BDD-92E7-910BED336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D30B-4196-568A-01DF-0F741633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1FCA8-AA88-4973-7116-FEAB7568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5087-8CE0-EB55-1929-9D337283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78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611D-A839-8B5E-5137-B26F0C63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1F2D9-D2B8-F963-FD8E-F223926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282F4-3DD1-2511-7E47-11C969B3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7862-1300-DD91-96D1-03056D4E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6D0C7-ADE3-5FA2-6666-33051D30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8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F601-99FD-A249-907B-DD5ABDBE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4DB7-EFF4-AE8A-4238-41D0C1981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A4D16-9C33-9277-72D8-145ED9DFD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A8846-F794-09DA-8EA1-5DF9B57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D21BA-1B7A-E223-35A6-A134A9D8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EAD7-7C36-ABEE-A32D-C38E6DE6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20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7C66-408E-3358-50F7-81E0F3EC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19FB5-720D-EF31-4942-EBD608117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93C59-A9FF-36EE-C602-30B1ACF7E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B340F-09D7-4D92-D734-42F7D84FA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264BA-50DE-A4D0-9B59-831B62D82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73544-28BE-C80E-8AF5-B5C2182B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381EE-7E7D-6AB6-6D69-12F9B75F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722F1-573B-0AF3-64C2-B9A1AE49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5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FC3B-0002-897A-7499-4F87624F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BF08A-7A9D-3290-AFD2-8202FAF8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DCF53-FE81-1840-0BB2-8563E03C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202FA-9DCB-06A8-4AEF-EB626F4C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04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6B38C-8334-68D8-84DF-898F9C44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774C1-D716-A184-1E87-262DA764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993C-3A95-4449-93B4-CAC135B4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5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95DB-C3D7-832A-C303-D39E16E3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9EAA-14B7-CB9C-8FED-FCE8DA31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A2653-CF3A-A2F2-AE4D-EBF09D2B2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DDE2E-1F38-846B-7506-7DED4A0A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71FE-4059-59A1-1463-EAC27EBF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0F4A1-CAC7-8F9F-03D7-DC76E13A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26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29CE-8956-C9A6-2080-717A1547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3ECBC-3B31-B3F0-2964-3454F2A67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42E8F-574D-1EDC-3DBE-C22A68500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7BDE0-4AEC-60B1-9FF4-F3921135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30159-7D64-410D-A0E8-883E3AB1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FD1F-FB24-2A9B-DF92-92D42341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37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38CB-D3AA-3838-6F70-2416B6B8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74E05-0455-54DC-AC2C-7D396ED23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7449-5C60-2809-9916-78BF21A4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2343-B892-A136-3CDF-4220CC50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8809-E405-7217-4A2F-5C1A982B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4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EE252-08CE-011B-FC45-4584F64DD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B5E5C-F85A-0292-23F3-D7B71268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A6AA-9462-1D93-0DDD-FD18B128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C747-17F4-212F-C487-758986F9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01AC-87AD-3482-04CE-14AACF75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03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B24"/>
            </a:gs>
            <a:gs pos="100000">
              <a:srgbClr val="0E10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DA7F8-AF36-A8DB-C681-658CF58E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44EBD-9EAD-4D62-F7E7-854A848E7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C54C-82DC-69DE-3687-729F84E80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ED19-C1BB-D6FA-5DB5-DB3C9B95F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4CC7-AB0B-DA76-3AD2-251165D06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  <p:sp>
        <p:nvSpPr>
          <p:cNvPr id="90" name="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1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5DC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5DCE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5DCE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F2D4-CEBD-575C-F0D3-A1DE0968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Assignment 1: Damped Wave Simulation with OpenMP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4A4B7-8D8A-843F-AE6E-E9D8D7CEA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dirty="0">
                <a:solidFill>
                  <a:srgbClr val="4DA3FF"/>
                </a:solidFill>
              </a:rPr>
              <a:t>A 2D damped wave solved with central differences, parallelized on HPC@PoliTO (edu_skylake, edu_sapphire)</a:t>
            </a:r>
          </a:p>
          <a:p>
            <a:pPr algn="l">
              <a:buNone/>
            </a:pPr>
            <a:r>
              <a:rPr lang="en-US" sz="1800" dirty="0">
                <a:solidFill>
                  <a:srgbClr val="D5DCE8"/>
                </a:solidFill>
              </a:rPr>
              <a:t>Finding: the ceiling is I/O, synchronization and NUMA placement — not the stencil</a:t>
            </a:r>
          </a:p>
        </p:txBody>
      </p:sp>
    </p:spTree>
    <p:extLst>
      <p:ext uri="{BB962C8B-B14F-4D97-AF65-F5344CB8AC3E}">
        <p14:creationId xmlns:p14="http://schemas.microsoft.com/office/powerpoint/2010/main" val="15861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44E1-D647-2B7B-20FC-74C65F1B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/>
              <a:t>A three-matrix stencil, parallelized once outside the time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1503-DF0A-69F9-2549-DA6297C2F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78000"/>
            <a:ext cx="5181600" cy="21844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4DA3FF"/>
                </a:solidFill>
              </a:rPr>
              <a:t>Numerical scheme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Central differences on a regular Δx, Δy, Δt grid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u_past, u, u_fut hold t−1, t and t+1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Zero everywhere except one impulse at the centre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Pointer rotation replaces deep-copying matrices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AE16-EB08-0C9F-CC7B-BCB9FA6B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78000"/>
            <a:ext cx="5181600" cy="21844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4DA3FF"/>
                </a:solidFill>
              </a:rPr>
              <a:t>OpenMP structure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One parallel region opened before the time loop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collapse(2) fuses i and j into one M×M space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Each thread owns a disjoint set of coordinates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The writing thread also rotates, so the swap is safe</a:t>
            </a:r>
          </a:p>
        </p:txBody>
      </p:sp>
      <p:sp>
        <p:nvSpPr>
          <p:cNvPr id="40" name="StripLabel"/>
          <p:cNvSpPr txBox="1"/>
          <p:nvPr/>
        </p:nvSpPr>
        <p:spPr>
          <a:xfrm>
            <a:off x="838200" y="411480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9AA7B8"/>
                </a:solidFill>
              </a:rPr>
              <a:t>Per-timestep sequence</a:t>
            </a:r>
          </a:p>
        </p:txBody>
      </p:sp>
      <p:sp>
        <p:nvSpPr>
          <p:cNvPr id="50" name="Step0"/>
          <p:cNvSpPr/>
          <p:nvPr/>
        </p:nvSpPr>
        <p:spPr>
          <a:xfrm>
            <a:off x="838200" y="4495800"/>
            <a:ext cx="2616200" cy="8890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stencil update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(omp for, collapse(2))</a:t>
            </a:r>
          </a:p>
        </p:txBody>
      </p:sp>
      <p:sp>
        <p:nvSpPr>
          <p:cNvPr id="51" name="Step1"/>
          <p:cNvSpPr/>
          <p:nvPr/>
        </p:nvSpPr>
        <p:spPr>
          <a:xfrm>
            <a:off x="337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scale into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pixel buffer</a:t>
            </a:r>
          </a:p>
        </p:txBody>
      </p:sp>
      <p:sp>
        <p:nvSpPr>
          <p:cNvPr id="52" name="Step2"/>
          <p:cNvSpPr/>
          <p:nvPr/>
        </p:nvSpPr>
        <p:spPr>
          <a:xfrm>
            <a:off x="591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one fwrite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(omp single)</a:t>
            </a:r>
          </a:p>
        </p:txBody>
      </p:sp>
      <p:sp>
        <p:nvSpPr>
          <p:cNvPr id="53" name="Step3"/>
          <p:cNvSpPr/>
          <p:nvPr/>
        </p:nvSpPr>
        <p:spPr>
          <a:xfrm>
            <a:off x="845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rotate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u_past / u / u_fut</a:t>
            </a:r>
          </a:p>
        </p:txBody>
      </p:sp>
      <p:sp>
        <p:nvSpPr>
          <p:cNvPr id="70" name="StripNote"/>
          <p:cNvSpPr txBox="1"/>
          <p:nvPr/>
        </p:nvSpPr>
        <p:spPr>
          <a:xfrm>
            <a:off x="838200" y="5613400"/>
            <a:ext cx="1051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C3CCDA"/>
                </a:solidFill>
              </a:rPr>
              <a:t>Parameters throughout: impulse −49 at the grid centre, propagation speed c = 0.33, damping γ = 0.187.</a:t>
            </a:r>
          </a:p>
        </p:txBody>
      </p:sp>
    </p:spTree>
    <p:extLst>
      <p:ext uri="{BB962C8B-B14F-4D97-AF65-F5344CB8AC3E}">
        <p14:creationId xmlns:p14="http://schemas.microsoft.com/office/powerpoint/2010/main" val="333310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70-815E-EA86-6978-0D2C881F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Profiling pointed at the barrier, not the stencil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5588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 dirty="0">
                <a:solidFill>
                  <a:srgbClr val="4DA3FF"/>
                </a:solidFill>
              </a:rPr>
              <a:t>VTune Hotspots at M=1000 on 32 threads: 79.4% of CPU time in gomp_team_barrier_wait_end, 9.7% in fwrite, 2.2% in the stencil.</a:t>
            </a:r>
          </a:p>
        </p:txBody>
      </p:sp>
      <p:sp>
        <p:nvSpPr>
          <p:cNvPr id="41" name="Imp1"/>
          <p:cNvSpPr/>
          <p:nvPr/>
        </p:nvSpPr>
        <p:spPr>
          <a:xfrm>
            <a:off x="8382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 dirty="0">
                <a:solidFill>
                  <a:srgbClr val="4DA3FF"/>
                </a:solidFill>
              </a:rPr>
              <a:t>1. Buffered frame output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D5DCE8"/>
                </a:solidFill>
              </a:rPr>
              <a:t>Per-pixel fwrite replaced by one in-memory buffer, filled in parallel and flushed with a single call per frame.</a:t>
            </a:r>
          </a:p>
        </p:txBody>
      </p:sp>
      <p:sp>
        <p:nvSpPr>
          <p:cNvPr id="42" name="Imp2"/>
          <p:cNvSpPr/>
          <p:nvPr/>
        </p:nvSpPr>
        <p:spPr>
          <a:xfrm>
            <a:off x="44196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 dirty="0">
                <a:solidFill>
                  <a:srgbClr val="4DA3FF"/>
                </a:solidFill>
              </a:rPr>
              <a:t>2. Loop fusion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D5DCE8"/>
                </a:solidFill>
              </a:rPr>
              <a:t>Stencil and buffer-fill span the same (i,j) range, so they were merged into one omp for, removing the added barrier.</a:t>
            </a:r>
          </a:p>
        </p:txBody>
      </p:sp>
      <p:sp>
        <p:nvSpPr>
          <p:cNvPr id="43" name="Imp3"/>
          <p:cNvSpPr/>
          <p:nvPr/>
        </p:nvSpPr>
        <p:spPr>
          <a:xfrm>
            <a:off x="80010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 dirty="0">
                <a:solidFill>
                  <a:srgbClr val="4DA3FF"/>
                </a:solidFill>
              </a:rPr>
              <a:t>3. Parallel first-touch init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D5DCE8"/>
                </a:solidFill>
              </a:rPr>
              <a:t>Initialization parallelized with the stencil's schedule, so each thread first-touches the pages it later reuses.</a:t>
            </a:r>
          </a:p>
        </p:txBody>
      </p:sp>
      <p:sp>
        <p:nvSpPr>
          <p:cNvPr id="51" name="Stat1"/>
          <p:cNvSpPr/>
          <p:nvPr/>
        </p:nvSpPr>
        <p:spPr>
          <a:xfrm>
            <a:off x="8382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 dirty="0">
                <a:solidFill>
                  <a:srgbClr val="4DA3FF"/>
                </a:solidFill>
              </a:rPr>
              <a:t>57.5%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barrier wait, from 79.4%</a:t>
            </a:r>
          </a:p>
        </p:txBody>
      </p:sp>
      <p:sp>
        <p:nvSpPr>
          <p:cNvPr id="52" name="Stat2"/>
          <p:cNvSpPr/>
          <p:nvPr/>
        </p:nvSpPr>
        <p:spPr>
          <a:xfrm>
            <a:off x="44196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 dirty="0">
                <a:solidFill>
                  <a:srgbClr val="2BB673"/>
                </a:solidFill>
              </a:rPr>
              <a:t>15.7%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stencil, from 2.2%</a:t>
            </a:r>
          </a:p>
        </p:txBody>
      </p:sp>
      <p:sp>
        <p:nvSpPr>
          <p:cNvPr id="53" name="Stat3"/>
          <p:cNvSpPr/>
          <p:nvPr/>
        </p:nvSpPr>
        <p:spPr>
          <a:xfrm>
            <a:off x="80010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 dirty="0">
                <a:solidFill>
                  <a:srgbClr val="2BB673"/>
                </a:solidFill>
              </a:rPr>
              <a:t>&lt;0.3%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fwrite, from 9.7%</a:t>
            </a:r>
          </a:p>
        </p:txBody>
      </p:sp>
      <p:sp>
        <p:nvSpPr>
          <p:cNvPr id="60" name="Note"/>
          <p:cNvSpPr txBox="1"/>
          <p:nvPr/>
        </p:nvSpPr>
        <p:spPr>
          <a:xfrm>
            <a:off x="838200" y="5638800"/>
            <a:ext cx="10515600" cy="7874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400" dirty="0">
                <a:solidFill>
                  <a:srgbClr val="C3CCDA"/>
                </a:solidFill>
              </a:rPr>
              <a:t>Threading analysis still reported 23% CPU utilization — 7.36 effective threads out of 32 — so at M=1000 the workload was too small for the team size. schedule(guided) was retained here because it absorbs the imbalance of the single-threaded write.</a:t>
            </a:r>
          </a:p>
        </p:txBody>
      </p:sp>
    </p:spTree>
    <p:extLst>
      <p:ext uri="{BB962C8B-B14F-4D97-AF65-F5344CB8AC3E}">
        <p14:creationId xmlns:p14="http://schemas.microsoft.com/office/powerpoint/2010/main" val="230187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F285-8153-0CC1-D920-15CA7DE7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CPU utilization climbs to 36% and stops there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 dirty="0">
                <a:solidFill>
                  <a:srgbClr val="4DA3FF"/>
                </a:solidFill>
              </a:rPr>
              <a:t>Execution time and effective CPU utilization across grid size M, 96 threads on edu_sapphire. Below M=2500 the threads starve; M=10000→20000 costs 3.74× against an ideal 4×.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F5B8E-4A5D-BDDE-A737-529348AC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1854200"/>
            <a:ext cx="7213600" cy="430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9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1E6C-7592-8748-72A7-A597A631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At M=15000, 96 threads return only 11.1× speedup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 dirty="0">
                <a:solidFill>
                  <a:srgbClr val="4DA3FF"/>
                </a:solidFill>
              </a:rPr>
              <a:t>Full pipeline with I/O. Up to 32 threads every thread owns a physical core and the loss is barrier cost; past 48 cores the rest are SMT siblings, and efficiency ends at 11.6%.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4EC93-2819-96F2-8A1E-7DFF637F5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BFA1-5AC2-F3E0-A71D-530DA3B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Disabling I/O more than doubles speedup, to 25.1×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 dirty="0">
                <a:solidFill>
                  <a:srgbClr val="4DA3FF"/>
                </a:solidFill>
              </a:rPr>
              <a:t>Same sweep, frame writes removed. At 96 threads speedup goes 11.1× → 25.1× and efficiency 11.6% → 26.1%: the overhead was the writes and their barriers, not the stencil.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7C2BA-2CB8-56C2-0CDC-AAE894EF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9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2FCF-2EEC-3683-6F2E-B506DBA79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 dirty="0"/>
              <a:t>NUMA-aligned static scheduling takes it to 36.8×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 dirty="0">
                <a:solidFill>
                  <a:srgbClr val="4DA3FF"/>
                </a:solidFill>
              </a:rPr>
              <a:t>I/O disabled, schedule(static) in both init and stencil, so each thread keeps the rows it first touched. Efficiency 43.7% vs. 29.9% at P=32, 45.4% vs. 27.0% at P=64.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87455-5338-F47F-2369-FBC4F69E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6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08E7-60EF-A302-247B-BFBD34D17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54200"/>
            <a:ext cx="6096000" cy="203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Colorized Wave Simulation on GPU</a:t>
            </a:r>
          </a:p>
          <a:p>
            <a:pPr algn="l">
              <a:buNone/>
            </a:pPr>
            <a:r>
              <a:rPr lang="en-US" sz="2000" b="1" dirty="0">
                <a:solidFill>
                  <a:srgbClr val="4DA3FF"/>
                </a:solidFill>
              </a:rPr>
              <a:t>Assignment 3 — MPI + OpenMP + CUDA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44608-10D2-C87D-180C-1646E78BF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89400"/>
            <a:ext cx="6096000" cy="16256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D5DCE8"/>
                </a:solidFill>
              </a:rPr>
              <a:t>Profiled on HPC@PoliTO (Legion), edu_a40 and edu_v100</a:t>
            </a:r>
          </a:p>
          <a:p>
            <a:pPr algn="l">
              <a:buNone/>
            </a:pPr>
            <a:r>
              <a:rPr lang="en-US" sz="1600" i="1" dirty="0">
                <a:solidFill>
                  <a:srgbClr val="B9C4D4"/>
                </a:solidFill>
              </a:rPr>
              <a:t>Finding: the bottleneck is file I/O, not compute</a:t>
            </a:r>
          </a:p>
        </p:txBody>
      </p:sp>
      <p:pic>
        <p:nvPicPr>
          <p:cNvPr id="4" name="sim1">
            <a:hlinkClick r:id="" action="ppaction://media"/>
            <a:extLst>
              <a:ext uri="{FF2B5EF4-FFF2-40B4-BE49-F238E27FC236}">
                <a16:creationId xmlns:a16="http://schemas.microsoft.com/office/drawing/2014/main" id="{37656773-C77C-C686-A9FA-ECF767B240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66000" y="18034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2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FC28-5C43-54C0-7947-2432D9C3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Three independent scenarios, one shared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B9C2E-E504-0097-7701-E072BCFE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4DA3FF"/>
                </a:solidFill>
              </a:rPr>
              <a:t>Per-rank pipeline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3 MPI ranks, one scenario each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OpenMP 5-point Laplacian stencil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CUDA kernel maps each value to RGB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Per-frame adaptive colour scale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ASCII P3 PPM frame written each step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61BB9-30DE-401A-AB68-53B4CFE1D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26B21"/>
                </a:solidFill>
              </a:rPr>
              <a:t>Cluster: HPC@PoliTO (Legion)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edu_a40 — 2x24 cores + SMT, 4x A40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edu_v100 — 32 cores, 4x V100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Job requests --gres=gpu:1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All three ranks share one GPU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D5DCE8"/>
                </a:solidFill>
              </a:rPr>
              <a:t>Nsight Compute blocked: ERR_NVGPUCTRPERM</a:t>
            </a:r>
          </a:p>
        </p:txBody>
      </p:sp>
      <p:sp>
        <p:nvSpPr>
          <p:cNvPr id="40" name="StripLabel"/>
          <p:cNvSpPr txBox="1"/>
          <p:nvPr/>
        </p:nvSpPr>
        <p:spPr>
          <a:xfrm>
            <a:off x="838200" y="449580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9AA7B8"/>
                </a:solidFill>
              </a:rPr>
              <a:t>Per-frame output path</a:t>
            </a:r>
          </a:p>
        </p:txBody>
      </p:sp>
      <p:sp>
        <p:nvSpPr>
          <p:cNvPr id="50" name="Step0"/>
          <p:cNvSpPr/>
          <p:nvPr/>
        </p:nvSpPr>
        <p:spPr>
          <a:xfrm>
            <a:off x="838200" y="4851400"/>
            <a:ext cx="1778000" cy="8636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compute_next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(OpenMP)</a:t>
            </a:r>
          </a:p>
        </p:txBody>
      </p:sp>
      <p:sp>
        <p:nvSpPr>
          <p:cNvPr id="51" name="Step1"/>
          <p:cNvSpPr/>
          <p:nvPr/>
        </p:nvSpPr>
        <p:spPr>
          <a:xfrm>
            <a:off x="25654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H2D copy</a:t>
            </a:r>
          </a:p>
        </p:txBody>
      </p:sp>
      <p:sp>
        <p:nvSpPr>
          <p:cNvPr id="52" name="Step2"/>
          <p:cNvSpPr/>
          <p:nvPr/>
        </p:nvSpPr>
        <p:spPr>
          <a:xfrm>
            <a:off x="42926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colorize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kernel</a:t>
            </a:r>
          </a:p>
        </p:txBody>
      </p:sp>
      <p:sp>
        <p:nvSpPr>
          <p:cNvPr id="53" name="Step3"/>
          <p:cNvSpPr/>
          <p:nvPr/>
        </p:nvSpPr>
        <p:spPr>
          <a:xfrm>
            <a:off x="60198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D5DCE8"/>
                </a:solidFill>
              </a:rPr>
              <a:t>D2H copy</a:t>
            </a:r>
          </a:p>
        </p:txBody>
      </p:sp>
      <p:sp>
        <p:nvSpPr>
          <p:cNvPr id="54" name="Step4"/>
          <p:cNvSpPr/>
          <p:nvPr/>
        </p:nvSpPr>
        <p:spPr>
          <a:xfrm>
            <a:off x="7747000" y="4851400"/>
            <a:ext cx="1778000" cy="863600"/>
          </a:xfrm>
          <a:prstGeom prst="chevron">
            <a:avLst/>
          </a:prstGeom>
          <a:solidFill>
            <a:srgbClr val="8A4A12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 dirty="0">
                <a:solidFill>
                  <a:srgbClr val="FFFFFF"/>
                </a:solidFill>
              </a:rPr>
              <a:t>ASCII format</a:t>
            </a:r>
          </a:p>
        </p:txBody>
      </p:sp>
      <p:sp>
        <p:nvSpPr>
          <p:cNvPr id="55" name="Step5"/>
          <p:cNvSpPr/>
          <p:nvPr/>
        </p:nvSpPr>
        <p:spPr>
          <a:xfrm>
            <a:off x="9474200" y="4851400"/>
            <a:ext cx="1778000" cy="863600"/>
          </a:xfrm>
          <a:prstGeom prst="chevron">
            <a:avLst/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12141A"/>
                </a:solidFill>
              </a:rPr>
              <a:t>disk write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2141A"/>
                </a:solidFill>
              </a:rPr>
              <a:t>(fwrite)</a:t>
            </a:r>
          </a:p>
        </p:txBody>
      </p:sp>
      <p:sp>
        <p:nvSpPr>
          <p:cNvPr id="70" name="StripNote"/>
          <p:cNvSpPr txBox="1"/>
          <p:nvPr/>
        </p:nvSpPr>
        <p:spPr>
          <a:xfrm>
            <a:off x="5664200" y="5867400"/>
            <a:ext cx="56896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1500" i="1" dirty="0">
                <a:solidFill>
                  <a:srgbClr val="F4B183"/>
                </a:solidFill>
              </a:rPr>
              <a:t>These last two carry ~99% of the frame cost</a:t>
            </a:r>
          </a:p>
        </p:txBody>
      </p:sp>
    </p:spTree>
    <p:extLst>
      <p:ext uri="{BB962C8B-B14F-4D97-AF65-F5344CB8AC3E}">
        <p14:creationId xmlns:p14="http://schemas.microsoft.com/office/powerpoint/2010/main" val="219169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4434-8FFB-E2CF-1AE2-7122B173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889000"/>
          </a:xfrm>
        </p:spPr>
        <p:txBody>
          <a:bodyPr>
            <a:noAutofit/>
          </a:bodyPr>
          <a:lstStyle/>
          <a:p>
            <a:r>
              <a:rPr lang="en-US" sz="2600" b="1"/>
              <a:t>Near-ideal O(M²) scaling — and GPU colorize+write dominates throughout</a:t>
            </a:r>
            <a:endParaRPr lang="en-GB" sz="2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01CB2-055F-48F9-B0F0-75A63F633C33}"/>
              </a:ext>
            </a:extLst>
          </p:cNvPr>
          <p:cNvSpPr txBox="1"/>
          <p:nvPr/>
        </p:nvSpPr>
        <p:spPr>
          <a:xfrm>
            <a:off x="838200" y="11938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2048 → 4096 costs 4.1× (ideal quadratic). At M=4096, GPU colorize+write is ~94.6% of total time; compute_next just ~2%.</a:t>
            </a:r>
            <a:endParaRPr lang="en-GB" sz="1600">
              <a:solidFill>
                <a:srgbClr val="4DA3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68F16-39DF-61F0-1A87-19F1CB8F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10668000" cy="436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5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2663-95B0-7881-5716-3BD43834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The disk write is 94.6% of the frame cost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140F8-24B0-4E6C-B0A0-DAC9992F48E5}"/>
              </a:ext>
            </a:extLst>
          </p:cNvPr>
          <p:cNvSpPr txBox="1"/>
          <p:nvPr/>
        </p:nvSpPr>
        <p:spPr>
          <a:xfrm>
            <a:off x="838200" y="10414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At M=4096: write ~94.6%, ASCII format ~4.3%, H2D+kernel+D2H ~1% combined — so parallelizing the ASCII formatting was measured, then rejected.</a:t>
            </a:r>
            <a:endParaRPr lang="en-GB" sz="1600">
              <a:solidFill>
                <a:srgbClr val="4DA3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4D453-6192-747C-B7DA-CCD28481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2600"/>
            <a:ext cx="10668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78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48DB-5495-C17D-22C4-58128C2D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It isn't fwrite — it's fclose, on both GPU generations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180DB-874C-4F94-8F66-DA1BAF03EAEC}"/>
              </a:ext>
            </a:extLst>
          </p:cNvPr>
          <p:cNvSpPr txBox="1"/>
          <p:nvPr/>
        </p:nvSpPr>
        <p:spPr>
          <a:xfrm>
            <a:off x="838200" y="1143000"/>
            <a:ext cx="3937000" cy="149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D5DCE8"/>
                </a:solidFill>
              </a:rPr>
              <a:t>Nsight Systems OS Runtime Summary, rank 0. fclose ~18% vs. fwrite ~0.6% — roughly 30× the call it follows. Profile is near-identical on A40 and V100, so the bottleneck is I/O and synchronization, not GPU hardware.</a:t>
            </a:r>
            <a:endParaRPr lang="en-GB" sz="1600">
              <a:solidFill>
                <a:srgbClr val="D5DCE8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E74D8-CEA2-41B1-9FCE-E65CDE59987C}"/>
              </a:ext>
            </a:extLst>
          </p:cNvPr>
          <p:cNvSpPr txBox="1"/>
          <p:nvPr/>
        </p:nvSpPr>
        <p:spPr>
          <a:xfrm>
            <a:off x="838200" y="4191000"/>
            <a:ext cx="3937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D5DCE8"/>
                </a:solidFill>
              </a:rPr>
              <a:t>epoll_wait ~52% + poll ~25% most plausibly reflect ranks idling on MPI progress — reported without claiming a precise causal link.</a:t>
            </a:r>
            <a:endParaRPr lang="en-GB" sz="1500" i="1">
              <a:solidFill>
                <a:srgbClr val="D5DCE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53E0E-FC6A-9C85-4E29-86AC66B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524000"/>
            <a:ext cx="6350000" cy="4064000"/>
          </a:xfrm>
          <a:prstGeom prst="rect">
            <a:avLst/>
          </a:prstGeom>
        </p:spPr>
      </p:pic>
      <p:sp>
        <p:nvSpPr>
          <p:cNvPr id="80" name="Stat80"/>
          <p:cNvSpPr/>
          <p:nvPr/>
        </p:nvSpPr>
        <p:spPr>
          <a:xfrm>
            <a:off x="838200" y="2717800"/>
            <a:ext cx="1854200" cy="1066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26B21"/>
                </a:solidFill>
              </a:rPr>
              <a:t>18.3%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fclose</a:t>
            </a:r>
          </a:p>
        </p:txBody>
      </p:sp>
      <p:sp>
        <p:nvSpPr>
          <p:cNvPr id="81" name="Stat81"/>
          <p:cNvSpPr/>
          <p:nvPr/>
        </p:nvSpPr>
        <p:spPr>
          <a:xfrm>
            <a:off x="2844800" y="2717800"/>
            <a:ext cx="1854200" cy="1066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 dirty="0">
                <a:solidFill>
                  <a:srgbClr val="4DA3FF"/>
                </a:solidFill>
              </a:rPr>
              <a:t>0.6%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fwrite</a:t>
            </a:r>
          </a:p>
        </p:txBody>
      </p:sp>
    </p:spTree>
    <p:extLst>
      <p:ext uri="{BB962C8B-B14F-4D97-AF65-F5344CB8AC3E}">
        <p14:creationId xmlns:p14="http://schemas.microsoft.com/office/powerpoint/2010/main" val="351771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EABC-FE26-31AA-31FE-563B5B56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Threads buy nothing: the stencil is bandwidth-bound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FC594-857F-4E21-9BA6-1A28C9E3ABBF}"/>
              </a:ext>
            </a:extLst>
          </p:cNvPr>
          <p:cNvSpPr txBox="1"/>
          <p:nvPr/>
        </p:nvSpPr>
        <p:spPr>
          <a:xfrm>
            <a:off x="838200" y="10160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1–32 threads at M=4096: both curves flat, never above ~1.2×; compute-only plateaus by 2 threads. Part 1 scaled because it tested M up to 15000 with no competing GPU-bound stage.</a:t>
            </a:r>
            <a:endParaRPr lang="en-GB" sz="1600">
              <a:solidFill>
                <a:srgbClr val="4DA3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2C08C-5CF0-8B71-87B3-8A909A1C7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5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32D6-0C3F-5581-A079-741BFB4A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Bigger CUDA blocks win: ~13% from 32 to 1024 threads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B5D7D-0820-4358-A56A-94B2E49F76E4}"/>
              </a:ext>
            </a:extLst>
          </p:cNvPr>
          <p:cNvSpPr txBox="1"/>
          <p:nvPr/>
        </p:nvSpPr>
        <p:spPr>
          <a:xfrm>
            <a:off x="838200" y="1193800"/>
            <a:ext cx="3810000" cy="294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D5DCE8"/>
                </a:solidFill>
              </a:rPr>
              <a:t>M=4096, GPU colorize + write time.
Time falls steadily with block size: ~83–84s at 32 threads/block down to ~73s at 1024 — the largest block tested is also the fastest, so the sweep found no interior optimum.
The three scenarios track each other closely; sim3 is mildly better in the 2⁷–2⁸ mid-range.</a:t>
            </a:r>
            <a:endParaRPr lang="en-GB" sz="1600">
              <a:solidFill>
                <a:srgbClr val="D5DCE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E87DA-0295-450C-E4DA-3902BFF5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422400"/>
            <a:ext cx="6604000" cy="4241800"/>
          </a:xfrm>
          <a:prstGeom prst="rect">
            <a:avLst/>
          </a:prstGeom>
        </p:spPr>
      </p:pic>
      <p:sp>
        <p:nvSpPr>
          <p:cNvPr id="84" name="Stat84"/>
          <p:cNvSpPr/>
          <p:nvPr/>
        </p:nvSpPr>
        <p:spPr>
          <a:xfrm>
            <a:off x="8382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26B21"/>
                </a:solidFill>
              </a:rPr>
              <a:t>~84s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32 threads/block</a:t>
            </a:r>
          </a:p>
        </p:txBody>
      </p:sp>
      <p:sp>
        <p:nvSpPr>
          <p:cNvPr id="85" name="Stat85"/>
          <p:cNvSpPr/>
          <p:nvPr/>
        </p:nvSpPr>
        <p:spPr>
          <a:xfrm>
            <a:off x="27686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4DA3FF"/>
                </a:solidFill>
              </a:rPr>
              <a:t>~73s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1024 threads/block</a:t>
            </a:r>
          </a:p>
        </p:txBody>
      </p:sp>
    </p:spTree>
    <p:extLst>
      <p:ext uri="{BB962C8B-B14F-4D97-AF65-F5344CB8AC3E}">
        <p14:creationId xmlns:p14="http://schemas.microsoft.com/office/powerpoint/2010/main" val="148400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82C0-F2B0-1E63-CED1-44D2A7A5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Sharing the GPU is free; sharing the filesystem is not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4535A-5F04-46DB-A28E-FB66D19BEF8E}"/>
              </a:ext>
            </a:extLst>
          </p:cNvPr>
          <p:cNvSpPr txBox="1"/>
          <p:nvPr/>
        </p:nvSpPr>
        <p:spPr>
          <a:xfrm>
            <a:off x="838200" y="1219200"/>
            <a:ext cx="38100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D5DCE8"/>
                </a:solidFill>
              </a:rPr>
              <a:t>M=2048, 50 steps, 4 threads — sim1's workload isolated in each mode.
Dedicating a GPU per rank changes nothing: distributed (21.25s) is ~2% slower than shared (20.84s), within noise. Solo is ~50% faster because it is the only mode with a single writer. Multi-node (18.76s) removes host-local contention but still writes to the same shared filesystem.</a:t>
            </a:r>
            <a:endParaRPr lang="en-GB" sz="1500">
              <a:solidFill>
                <a:srgbClr val="D5DCE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1B0B1-51E9-1213-3749-B58FC4BB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1625600"/>
            <a:ext cx="7010400" cy="3848100"/>
          </a:xfrm>
          <a:prstGeom prst="rect">
            <a:avLst/>
          </a:prstGeom>
        </p:spPr>
      </p:pic>
      <p:sp>
        <p:nvSpPr>
          <p:cNvPr id="82" name="Stat82"/>
          <p:cNvSpPr/>
          <p:nvPr/>
        </p:nvSpPr>
        <p:spPr>
          <a:xfrm>
            <a:off x="838200" y="4216400"/>
            <a:ext cx="1778000" cy="11176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4DA3FF"/>
                </a:solidFill>
              </a:rPr>
              <a:t>9.47s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solo, one writer</a:t>
            </a:r>
          </a:p>
        </p:txBody>
      </p:sp>
      <p:sp>
        <p:nvSpPr>
          <p:cNvPr id="83" name="Stat83"/>
          <p:cNvSpPr/>
          <p:nvPr/>
        </p:nvSpPr>
        <p:spPr>
          <a:xfrm>
            <a:off x="2768600" y="4216400"/>
            <a:ext cx="1778000" cy="11176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26B21"/>
                </a:solidFill>
              </a:rPr>
              <a:t>20.84s</a:t>
            </a:r>
          </a:p>
          <a:p>
            <a:pPr algn="ctr">
              <a:buNone/>
            </a:pPr>
            <a:r>
              <a:rPr lang="en-US" sz="1400" dirty="0">
                <a:solidFill>
                  <a:srgbClr val="D5DCE8"/>
                </a:solidFill>
              </a:rPr>
              <a:t>3 concurrent writers</a:t>
            </a:r>
          </a:p>
        </p:txBody>
      </p:sp>
    </p:spTree>
    <p:extLst>
      <p:ext uri="{BB962C8B-B14F-4D97-AF65-F5344CB8AC3E}">
        <p14:creationId xmlns:p14="http://schemas.microsoft.com/office/powerpoint/2010/main" val="1283397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AF83-3BC0-73C1-5E9E-9902F6F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Measure first, then optimize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05DB-EB07-F1A4-0FFB-BD9DB717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I/O dominates.</a:t>
            </a:r>
            <a:r>
              <a:rPr lang="en-US" sz="1800" dirty="0">
                <a:solidFill>
                  <a:srgbClr val="D5DCE8"/>
                </a:solidFill>
              </a:rPr>
              <a:t> Colorization kernel ~1% of frame time, compute_next ~2% — the cost is per-frame file I/O, concentrated at fclose.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Confirmed across hardware.</a:t>
            </a:r>
            <a:r>
              <a:rPr lang="en-US" sz="1800" dirty="0">
                <a:solidFill>
                  <a:srgbClr val="D5DCE8"/>
                </a:solidFill>
              </a:rPr>
              <a:t> The OS-runtime profile is near-identical on A40 and V100, so it is not GPU-specific.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ASCII formatting: rejected.</a:t>
            </a:r>
            <a:r>
              <a:rPr lang="en-US" sz="1800" dirty="0">
                <a:solidFill>
                  <a:srgbClr val="D5DCE8"/>
                </a:solidFill>
              </a:rPr>
              <a:t> At ~4% of color_time, parallelizing it could not repay the added complexity.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Adaptive colour scale: adopted.</a:t>
            </a:r>
            <a:r>
              <a:rPr lang="en-US" sz="1800" dirty="0">
                <a:solidFill>
                  <a:srgbClr val="D5DCE8"/>
                </a:solidFill>
              </a:rPr>
              <a:t> Raw pixel data showed a fixed scale goes pale almost immediately.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Contention is filesystem, not GPU.</a:t>
            </a:r>
            <a:r>
              <a:rPr lang="en-US" sz="1800" dirty="0">
                <a:solidFill>
                  <a:srgbClr val="D5DCE8"/>
                </a:solidFill>
              </a:rPr>
              <a:t> Four execution modes settled it by measurement, not by spec sheet.</a:t>
            </a:r>
          </a:p>
        </p:txBody>
      </p:sp>
      <p:sp>
        <p:nvSpPr>
          <p:cNvPr id="88" name="ClosingBand"/>
          <p:cNvSpPr/>
          <p:nvPr/>
        </p:nvSpPr>
        <p:spPr>
          <a:xfrm>
            <a:off x="838200" y="5156200"/>
            <a:ext cx="10515600" cy="1066800"/>
          </a:xfrm>
          <a:prstGeom prst="roundRect">
            <a:avLst>
              <a:gd name="adj" fmla="val 6000"/>
            </a:avLst>
          </a:prstGeom>
          <a:solidFill>
            <a:srgbClr val="1E2431"/>
          </a:solidFill>
          <a:ln w="19050">
            <a:solidFill>
              <a:srgbClr val="4DA3FF"/>
            </a:solidFill>
          </a:ln>
        </p:spPr>
        <p:txBody>
          <a:bodyPr wrap="square" lIns="152400" tIns="76200" rIns="152400" bIns="762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optimization decision here was made after measuring — </a:t>
            </a:r>
            <a:r>
              <a:rPr lang="en-US" sz="2000" b="1" dirty="0">
                <a:solidFill>
                  <a:srgbClr val="4DA3FF"/>
                </a:solidFill>
              </a:rPr>
              <a:t>none assumed from the physics or the spec sheet.</a:t>
            </a:r>
          </a:p>
        </p:txBody>
      </p:sp>
    </p:spTree>
    <p:extLst>
      <p:ext uri="{BB962C8B-B14F-4D97-AF65-F5344CB8AC3E}">
        <p14:creationId xmlns:p14="http://schemas.microsoft.com/office/powerpoint/2010/main" val="413652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47700817]">
  <a:themeElements>
    <a:clrScheme name="Office">
      <a:dk1>
        <a:srgbClr val="EDF1F7"/>
      </a:dk1>
      <a:lt1>
        <a:srgbClr val="12141A"/>
      </a:lt1>
      <a:dk2>
        <a:srgbClr val="9AA7B8"/>
      </a:dk2>
      <a:lt2>
        <a:srgbClr val="1E222B"/>
      </a:lt2>
      <a:accent1>
        <a:srgbClr val="4DA3FF"/>
      </a:accent1>
      <a:accent2>
        <a:srgbClr val="F26B21"/>
      </a:accent2>
      <a:accent3>
        <a:srgbClr val="2BB673"/>
      </a:accent3>
      <a:accent4>
        <a:srgbClr val="E8C33C"/>
      </a:accent4>
      <a:accent5>
        <a:srgbClr val="B07BE8"/>
      </a:accent5>
      <a:accent6>
        <a:srgbClr val="6C7787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D32E89-B6B6-489E-87F4-D97BFD73007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1163f32-9ea1-4457-a6af-9f6dbfb678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1327</Words>
  <Application>Microsoft Office PowerPoint</Application>
  <PresentationFormat>Widescreen</PresentationFormat>
  <Paragraphs>107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Segoe UI</vt:lpstr>
      <vt:lpstr>Segoe UI Semibold</vt:lpstr>
      <vt:lpstr>Office Theme [1789547700817]</vt:lpstr>
      <vt:lpstr>Assignment 1: Damped Wave Simulation with OpenMP</vt:lpstr>
      <vt:lpstr>A three-matrix stencil, parallelized once outside the time loop</vt:lpstr>
      <vt:lpstr>Profiling pointed at the barrier, not the stencil</vt:lpstr>
      <vt:lpstr>CPU utilization climbs to 36% and stops there</vt:lpstr>
      <vt:lpstr>At M=15000, 96 threads return only 11.1× speedup</vt:lpstr>
      <vt:lpstr>Disabling I/O more than doubles speedup, to 25.1×</vt:lpstr>
      <vt:lpstr>NUMA-aligned static scheduling takes it to 36.8×</vt:lpstr>
      <vt:lpstr>Colorized Wave Simulation on GPU Assignment 3 — MPI + OpenMP + CUDA</vt:lpstr>
      <vt:lpstr>Three independent scenarios, one shared GPU</vt:lpstr>
      <vt:lpstr>Near-ideal O(M²) scaling — and GPU colorize+write dominates throughout</vt:lpstr>
      <vt:lpstr>The disk write is 94.6% of the frame cost</vt:lpstr>
      <vt:lpstr>It isn't fwrite — it's fclose, on both GPU generations</vt:lpstr>
      <vt:lpstr>Threads buy nothing: the stencil is bandwidth-bound</vt:lpstr>
      <vt:lpstr>Bigger CUDA blocks win: ~13% from 32 to 1024 threads</vt:lpstr>
      <vt:lpstr>Sharing the GPU is free; sharing the filesystem is not</vt:lpstr>
      <vt:lpstr>Measure first, then optimize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Donati</dc:creator>
  <cp:lastModifiedBy>Davide Donati</cp:lastModifiedBy>
  <cp:revision>2</cp:revision>
  <dcterms:created xsi:type="dcterms:W3CDTF">2026-09-16T08:29:42Z</dcterms:created>
  <dcterms:modified xsi:type="dcterms:W3CDTF">2026-09-16T09:15:44Z</dcterms:modified>
</cp:coreProperties>
</file>